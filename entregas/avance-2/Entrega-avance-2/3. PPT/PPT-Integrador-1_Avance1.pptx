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elvetica Now Display Bold" charset="1" panose="020B0804030202020204"/>
      <p:regular r:id="rId20"/>
    </p:embeddedFont>
    <p:embeddedFont>
      <p:font typeface="Helvetica Now Display" charset="1" panose="020B050403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0.jpe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17771">
            <a:off x="10915316" y="4279003"/>
            <a:ext cx="9720416" cy="12013998"/>
          </a:xfrm>
          <a:custGeom>
            <a:avLst/>
            <a:gdLst/>
            <a:ahLst/>
            <a:cxnLst/>
            <a:rect r="r" b="b" t="t" l="l"/>
            <a:pathLst>
              <a:path h="12013998" w="9720416">
                <a:moveTo>
                  <a:pt x="0" y="0"/>
                </a:moveTo>
                <a:lnTo>
                  <a:pt x="9720417" y="0"/>
                </a:lnTo>
                <a:lnTo>
                  <a:pt x="9720417" y="12013998"/>
                </a:lnTo>
                <a:lnTo>
                  <a:pt x="0" y="12013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253427">
            <a:off x="12415300" y="-4958267"/>
            <a:ext cx="9688001" cy="11973933"/>
          </a:xfrm>
          <a:custGeom>
            <a:avLst/>
            <a:gdLst/>
            <a:ahLst/>
            <a:cxnLst/>
            <a:rect r="r" b="b" t="t" l="l"/>
            <a:pathLst>
              <a:path h="11973933" w="9688001">
                <a:moveTo>
                  <a:pt x="0" y="0"/>
                </a:moveTo>
                <a:lnTo>
                  <a:pt x="9688000" y="0"/>
                </a:lnTo>
                <a:lnTo>
                  <a:pt x="9688000" y="11973934"/>
                </a:lnTo>
                <a:lnTo>
                  <a:pt x="0" y="11973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636611">
            <a:off x="6525095" y="-2955856"/>
            <a:ext cx="5237811" cy="6473699"/>
          </a:xfrm>
          <a:custGeom>
            <a:avLst/>
            <a:gdLst/>
            <a:ahLst/>
            <a:cxnLst/>
            <a:rect r="r" b="b" t="t" l="l"/>
            <a:pathLst>
              <a:path h="6473699" w="5237811">
                <a:moveTo>
                  <a:pt x="0" y="0"/>
                </a:moveTo>
                <a:lnTo>
                  <a:pt x="5237810" y="0"/>
                </a:lnTo>
                <a:lnTo>
                  <a:pt x="5237810" y="6473699"/>
                </a:lnTo>
                <a:lnTo>
                  <a:pt x="0" y="6473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11116" y="8133899"/>
            <a:ext cx="719864" cy="341035"/>
          </a:xfrm>
          <a:custGeom>
            <a:avLst/>
            <a:gdLst/>
            <a:ahLst/>
            <a:cxnLst/>
            <a:rect r="r" b="b" t="t" l="l"/>
            <a:pathLst>
              <a:path h="341035" w="719864">
                <a:moveTo>
                  <a:pt x="0" y="0"/>
                </a:moveTo>
                <a:lnTo>
                  <a:pt x="719864" y="0"/>
                </a:lnTo>
                <a:lnTo>
                  <a:pt x="719864" y="341035"/>
                </a:lnTo>
                <a:lnTo>
                  <a:pt x="0" y="341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42921" y="3285834"/>
            <a:ext cx="11086433" cy="379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4"/>
              </a:lnSpc>
            </a:pPr>
            <a:r>
              <a:rPr lang="en-US" sz="6848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Aplicación web para reducir el tiempo de elaboración de informes de tests proyectivos de dibujo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11013" y="9364291"/>
            <a:ext cx="212828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L</a:t>
            </a:r>
            <a:r>
              <a:rPr lang="en-US" sz="3000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ima, 2026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754515"/>
            <a:ext cx="6336975" cy="50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6"/>
              </a:lnSpc>
            </a:pPr>
            <a:r>
              <a:rPr lang="en-US" sz="2961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Cu</a:t>
            </a:r>
            <a:r>
              <a:rPr lang="en-US" sz="2961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rso Integrador I: Sistemas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0328" y="1319980"/>
            <a:ext cx="1797815" cy="28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 b="true">
                <a:solidFill>
                  <a:srgbClr val="005599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PSICOGRAMA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7205" y="9384382"/>
            <a:ext cx="2500938" cy="50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0"/>
              </a:lnSpc>
            </a:pPr>
            <a:r>
              <a:rPr lang="en-US" sz="2993">
                <a:solidFill>
                  <a:srgbClr val="005599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Sección 38195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81388" y="1221875"/>
            <a:ext cx="504018" cy="475609"/>
          </a:xfrm>
          <a:custGeom>
            <a:avLst/>
            <a:gdLst/>
            <a:ahLst/>
            <a:cxnLst/>
            <a:rect r="r" b="b" t="t" l="l"/>
            <a:pathLst>
              <a:path h="475609" w="504018">
                <a:moveTo>
                  <a:pt x="0" y="0"/>
                </a:moveTo>
                <a:lnTo>
                  <a:pt x="504017" y="0"/>
                </a:lnTo>
                <a:lnTo>
                  <a:pt x="504017" y="475610"/>
                </a:lnTo>
                <a:lnTo>
                  <a:pt x="0" y="475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09094"/>
            <a:ext cx="2736000" cy="4416231"/>
            <a:chOff x="0" y="0"/>
            <a:chExt cx="3648000" cy="5888308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679" t="0" r="33043" b="0"/>
            <a:stretch>
              <a:fillRect/>
            </a:stretch>
          </p:blipFill>
          <p:spPr>
            <a:xfrm flipH="false" flipV="false">
              <a:off x="0" y="0"/>
              <a:ext cx="3648000" cy="5888308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4402350" y="2809094"/>
            <a:ext cx="2736000" cy="4416231"/>
            <a:chOff x="0" y="0"/>
            <a:chExt cx="3648000" cy="5888308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19023" t="0" r="19023" b="0"/>
            <a:stretch>
              <a:fillRect/>
            </a:stretch>
          </p:blipFill>
          <p:spPr>
            <a:xfrm flipH="false" flipV="false">
              <a:off x="0" y="0"/>
              <a:ext cx="3648000" cy="5888308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7776000" y="2809094"/>
            <a:ext cx="2736000" cy="4416231"/>
            <a:chOff x="0" y="0"/>
            <a:chExt cx="3648000" cy="5888308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12958" t="0" r="12958" b="0"/>
            <a:stretch>
              <a:fillRect/>
            </a:stretch>
          </p:blipFill>
          <p:spPr>
            <a:xfrm flipH="false" flipV="false">
              <a:off x="0" y="0"/>
              <a:ext cx="3648000" cy="5888308"/>
            </a:xfrm>
            <a:prstGeom prst="rect">
              <a:avLst/>
            </a:prstGeom>
          </p:spPr>
        </p:pic>
      </p:grpSp>
      <p:sp>
        <p:nvSpPr>
          <p:cNvPr name="Freeform 8" id="8"/>
          <p:cNvSpPr/>
          <p:nvPr/>
        </p:nvSpPr>
        <p:spPr>
          <a:xfrm flipH="false" flipV="false" rot="-3960535">
            <a:off x="13698910" y="-2857112"/>
            <a:ext cx="6287950" cy="7771624"/>
          </a:xfrm>
          <a:custGeom>
            <a:avLst/>
            <a:gdLst/>
            <a:ahLst/>
            <a:cxnLst/>
            <a:rect r="r" b="b" t="t" l="l"/>
            <a:pathLst>
              <a:path h="7771624" w="6287950">
                <a:moveTo>
                  <a:pt x="0" y="0"/>
                </a:moveTo>
                <a:lnTo>
                  <a:pt x="6287950" y="0"/>
                </a:lnTo>
                <a:lnTo>
                  <a:pt x="6287950" y="7771624"/>
                </a:lnTo>
                <a:lnTo>
                  <a:pt x="0" y="7771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801095">
            <a:off x="16090806" y="5806555"/>
            <a:ext cx="3964543" cy="4899997"/>
          </a:xfrm>
          <a:custGeom>
            <a:avLst/>
            <a:gdLst/>
            <a:ahLst/>
            <a:cxnLst/>
            <a:rect r="r" b="b" t="t" l="l"/>
            <a:pathLst>
              <a:path h="4899997" w="3964543">
                <a:moveTo>
                  <a:pt x="0" y="0"/>
                </a:moveTo>
                <a:lnTo>
                  <a:pt x="3964543" y="0"/>
                </a:lnTo>
                <a:lnTo>
                  <a:pt x="3964543" y="4899997"/>
                </a:lnTo>
                <a:lnTo>
                  <a:pt x="0" y="4899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149650" y="2809094"/>
            <a:ext cx="2736000" cy="4416231"/>
            <a:chOff x="0" y="0"/>
            <a:chExt cx="3648000" cy="5888308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7"/>
            <a:srcRect l="8697" t="0" r="8697" b="0"/>
            <a:stretch>
              <a:fillRect/>
            </a:stretch>
          </p:blipFill>
          <p:spPr>
            <a:xfrm flipH="false" flipV="false">
              <a:off x="0" y="0"/>
              <a:ext cx="3648000" cy="5888308"/>
            </a:xfrm>
            <a:prstGeom prst="rect">
              <a:avLst/>
            </a:prstGeom>
          </p:spPr>
        </p:pic>
      </p:grpSp>
      <p:grpSp>
        <p:nvGrpSpPr>
          <p:cNvPr name="Group 12" id="12"/>
          <p:cNvGrpSpPr/>
          <p:nvPr/>
        </p:nvGrpSpPr>
        <p:grpSpPr>
          <a:xfrm rot="0">
            <a:off x="14523300" y="2809094"/>
            <a:ext cx="2736000" cy="4416231"/>
            <a:chOff x="0" y="0"/>
            <a:chExt cx="3648000" cy="5888308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8"/>
            <a:srcRect l="22942" t="0" r="23116" b="0"/>
            <a:stretch>
              <a:fillRect/>
            </a:stretch>
          </p:blipFill>
          <p:spPr>
            <a:xfrm flipH="false" flipV="false">
              <a:off x="0" y="0"/>
              <a:ext cx="3648000" cy="5888308"/>
            </a:xfrm>
            <a:prstGeom prst="rect">
              <a:avLst/>
            </a:prstGeom>
          </p:spPr>
        </p:pic>
      </p:grpSp>
      <p:grpSp>
        <p:nvGrpSpPr>
          <p:cNvPr name="Group 14" id="14"/>
          <p:cNvGrpSpPr/>
          <p:nvPr/>
        </p:nvGrpSpPr>
        <p:grpSpPr>
          <a:xfrm rot="0">
            <a:off x="1028700" y="7437794"/>
            <a:ext cx="2736000" cy="715193"/>
            <a:chOff x="0" y="0"/>
            <a:chExt cx="3648000" cy="95359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38100"/>
              <a:ext cx="3648000" cy="441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8"/>
                </a:lnSpc>
              </a:pPr>
              <a:r>
                <a:rPr lang="en-US" sz="2400" b="true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Joaquin Chaparro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22452"/>
              <a:ext cx="3648000" cy="331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6"/>
                </a:lnSpc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Jefe de Proyecto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02350" y="7437794"/>
            <a:ext cx="2736000" cy="715193"/>
            <a:chOff x="0" y="0"/>
            <a:chExt cx="3648000" cy="95359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622452"/>
              <a:ext cx="3648000" cy="331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36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Analista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38100"/>
              <a:ext cx="3648000" cy="441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Jose Diaz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523825" y="7437794"/>
            <a:ext cx="2736000" cy="715193"/>
            <a:chOff x="0" y="0"/>
            <a:chExt cx="3648000" cy="95359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622452"/>
              <a:ext cx="3648000" cy="331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36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Desarrollador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8100"/>
              <a:ext cx="3648000" cy="441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Jonathan Tuppia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49650" y="7437794"/>
            <a:ext cx="2736000" cy="715193"/>
            <a:chOff x="0" y="0"/>
            <a:chExt cx="3648000" cy="95359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622452"/>
              <a:ext cx="3648000" cy="331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36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Desarrollador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38100"/>
              <a:ext cx="3648000" cy="441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Iam Arias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75475" y="7437794"/>
            <a:ext cx="2736000" cy="715193"/>
            <a:chOff x="0" y="0"/>
            <a:chExt cx="3648000" cy="953590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622452"/>
              <a:ext cx="3648000" cy="331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36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Analista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38100"/>
              <a:ext cx="3648000" cy="441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Yefrei Bernable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1085850"/>
            <a:ext cx="811530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El equipo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9577993" y="1327785"/>
          <a:ext cx="7681307" cy="7635240"/>
        </p:xfrm>
        <a:graphic>
          <a:graphicData uri="http://schemas.openxmlformats.org/drawingml/2006/table">
            <a:tbl>
              <a:tblPr/>
              <a:tblGrid>
                <a:gridCol w="2178238"/>
                <a:gridCol w="5503069"/>
              </a:tblGrid>
              <a:tr h="95369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4200"/>
                        </a:lnSpc>
                        <a:defRPr/>
                      </a:pPr>
                      <a:r>
                        <a:rPr lang="en-US" b="true" sz="3000" spc="303">
                          <a:solidFill>
                            <a:srgbClr val="005599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1.1.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Defi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nición del problema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369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4200"/>
                        </a:lnSpc>
                        <a:defRPr/>
                      </a:pPr>
                      <a:r>
                        <a:rPr lang="en-US" b="true" sz="3000" spc="303">
                          <a:solidFill>
                            <a:srgbClr val="005599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 1.1.1.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Descripción del problema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369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4200"/>
                        </a:lnSpc>
                        <a:defRPr/>
                      </a:pPr>
                      <a:r>
                        <a:rPr lang="en-US" b="true" sz="3000" spc="303">
                          <a:solidFill>
                            <a:srgbClr val="005599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1.2.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Definición de objetivos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369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4200"/>
                        </a:lnSpc>
                        <a:defRPr/>
                      </a:pPr>
                      <a:r>
                        <a:rPr lang="en-US" b="true" sz="3000" spc="303">
                          <a:solidFill>
                            <a:srgbClr val="005599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1.2.1.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Objetivos generales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369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4200"/>
                        </a:lnSpc>
                        <a:defRPr/>
                      </a:pPr>
                      <a:r>
                        <a:rPr lang="en-US" b="true" sz="3000" spc="303">
                          <a:solidFill>
                            <a:srgbClr val="005599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1.2.2.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Objetivos específicos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94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4200"/>
                        </a:lnSpc>
                        <a:defRPr/>
                      </a:pPr>
                      <a:r>
                        <a:rPr lang="en-US" b="true" sz="3000" spc="303">
                          <a:solidFill>
                            <a:srgbClr val="005599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1.2.3.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Alcances y limitaciones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369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4200"/>
                        </a:lnSpc>
                        <a:defRPr/>
                      </a:pPr>
                      <a:r>
                        <a:rPr lang="en-US" b="true" sz="3000" spc="303">
                          <a:solidFill>
                            <a:srgbClr val="005599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1.2.4.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Justificación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369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4200"/>
                        </a:lnSpc>
                        <a:defRPr/>
                      </a:pPr>
                      <a:r>
                        <a:rPr lang="en-US" b="true" sz="3000" spc="303">
                          <a:solidFill>
                            <a:srgbClr val="005599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1.2.5.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Estados del arte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028700" y="1028700"/>
            <a:ext cx="5970107" cy="2305808"/>
            <a:chOff x="0" y="0"/>
            <a:chExt cx="7960142" cy="307441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23825"/>
              <a:ext cx="7960142" cy="1852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48"/>
                </a:lnSpc>
              </a:pPr>
              <a:r>
                <a:rPr lang="en-US" sz="9764" b="true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Capí</a:t>
              </a:r>
              <a:r>
                <a:rPr lang="en-US" sz="9764" b="true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tulo 1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8307" y="2308308"/>
              <a:ext cx="6056959" cy="766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21"/>
                </a:lnSpc>
              </a:pPr>
              <a:r>
                <a:rPr lang="en-US" sz="3515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Aspectos generales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973534">
            <a:off x="-1931854" y="4445352"/>
            <a:ext cx="6518395" cy="8056444"/>
          </a:xfrm>
          <a:custGeom>
            <a:avLst/>
            <a:gdLst/>
            <a:ahLst/>
            <a:cxnLst/>
            <a:rect r="r" b="b" t="t" l="l"/>
            <a:pathLst>
              <a:path h="8056444" w="6518395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463387">
            <a:off x="3177553" y="7343476"/>
            <a:ext cx="4256974" cy="5261429"/>
          </a:xfrm>
          <a:custGeom>
            <a:avLst/>
            <a:gdLst/>
            <a:ahLst/>
            <a:cxnLst/>
            <a:rect r="r" b="b" t="t" l="l"/>
            <a:pathLst>
              <a:path h="5261429" w="4256974">
                <a:moveTo>
                  <a:pt x="0" y="0"/>
                </a:moveTo>
                <a:lnTo>
                  <a:pt x="4256974" y="0"/>
                </a:lnTo>
                <a:lnTo>
                  <a:pt x="4256974" y="5261428"/>
                </a:lnTo>
                <a:lnTo>
                  <a:pt x="0" y="5261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123150">
            <a:off x="-2230498" y="-2999522"/>
            <a:ext cx="6518395" cy="8056444"/>
          </a:xfrm>
          <a:custGeom>
            <a:avLst/>
            <a:gdLst/>
            <a:ahLst/>
            <a:cxnLst/>
            <a:rect r="r" b="b" t="t" l="l"/>
            <a:pathLst>
              <a:path h="8056444" w="6518395">
                <a:moveTo>
                  <a:pt x="0" y="0"/>
                </a:moveTo>
                <a:lnTo>
                  <a:pt x="6518396" y="0"/>
                </a:lnTo>
                <a:lnTo>
                  <a:pt x="6518396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52521" y="4803297"/>
            <a:ext cx="6518395" cy="8056444"/>
          </a:xfrm>
          <a:custGeom>
            <a:avLst/>
            <a:gdLst/>
            <a:ahLst/>
            <a:cxnLst/>
            <a:rect r="r" b="b" t="t" l="l"/>
            <a:pathLst>
              <a:path h="8056444" w="6518395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56332">
            <a:off x="15707107" y="832927"/>
            <a:ext cx="4463809" cy="5517067"/>
          </a:xfrm>
          <a:custGeom>
            <a:avLst/>
            <a:gdLst/>
            <a:ahLst/>
            <a:cxnLst/>
            <a:rect r="r" b="b" t="t" l="l"/>
            <a:pathLst>
              <a:path h="5517067" w="4463809">
                <a:moveTo>
                  <a:pt x="0" y="0"/>
                </a:moveTo>
                <a:lnTo>
                  <a:pt x="4463809" y="0"/>
                </a:lnTo>
                <a:lnTo>
                  <a:pt x="4463809" y="5517067"/>
                </a:lnTo>
                <a:lnTo>
                  <a:pt x="0" y="5517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497470">
            <a:off x="-2093466" y="5134941"/>
            <a:ext cx="4463809" cy="5517067"/>
          </a:xfrm>
          <a:custGeom>
            <a:avLst/>
            <a:gdLst/>
            <a:ahLst/>
            <a:cxnLst/>
            <a:rect r="r" b="b" t="t" l="l"/>
            <a:pathLst>
              <a:path h="5517067" w="4463809">
                <a:moveTo>
                  <a:pt x="0" y="0"/>
                </a:moveTo>
                <a:lnTo>
                  <a:pt x="4463809" y="0"/>
                </a:lnTo>
                <a:lnTo>
                  <a:pt x="4463809" y="5517067"/>
                </a:lnTo>
                <a:lnTo>
                  <a:pt x="0" y="5517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11610" y="2171915"/>
            <a:ext cx="12880132" cy="1912956"/>
          </a:xfrm>
          <a:custGeom>
            <a:avLst/>
            <a:gdLst/>
            <a:ahLst/>
            <a:cxnLst/>
            <a:rect r="r" b="b" t="t" l="l"/>
            <a:pathLst>
              <a:path h="1912956" w="12880132">
                <a:moveTo>
                  <a:pt x="0" y="0"/>
                </a:moveTo>
                <a:lnTo>
                  <a:pt x="12880132" y="0"/>
                </a:lnTo>
                <a:lnTo>
                  <a:pt x="12880132" y="1912956"/>
                </a:lnTo>
                <a:lnTo>
                  <a:pt x="0" y="1912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79" t="-68478" r="-5544" b="-23996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51634" y="1085850"/>
            <a:ext cx="7655827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Descripción del problema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96258" y="4753329"/>
            <a:ext cx="12880132" cy="1912956"/>
          </a:xfrm>
          <a:custGeom>
            <a:avLst/>
            <a:gdLst/>
            <a:ahLst/>
            <a:cxnLst/>
            <a:rect r="r" b="b" t="t" l="l"/>
            <a:pathLst>
              <a:path h="1912956" w="12880132">
                <a:moveTo>
                  <a:pt x="0" y="0"/>
                </a:moveTo>
                <a:lnTo>
                  <a:pt x="12880132" y="0"/>
                </a:lnTo>
                <a:lnTo>
                  <a:pt x="12880132" y="1912956"/>
                </a:lnTo>
                <a:lnTo>
                  <a:pt x="0" y="1912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43" t="-177268" r="-5480" b="-13117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96258" y="7151650"/>
            <a:ext cx="12895484" cy="1909745"/>
          </a:xfrm>
          <a:custGeom>
            <a:avLst/>
            <a:gdLst/>
            <a:ahLst/>
            <a:cxnLst/>
            <a:rect r="r" b="b" t="t" l="l"/>
            <a:pathLst>
              <a:path h="1909745" w="12895484">
                <a:moveTo>
                  <a:pt x="0" y="0"/>
                </a:moveTo>
                <a:lnTo>
                  <a:pt x="12895484" y="0"/>
                </a:lnTo>
                <a:lnTo>
                  <a:pt x="12895484" y="1909745"/>
                </a:lnTo>
                <a:lnTo>
                  <a:pt x="0" y="190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94" t="-284874" r="-5196" b="-2425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85850"/>
            <a:ext cx="811530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Contexto de la organización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0" y="5645055"/>
            <a:ext cx="18288000" cy="0"/>
          </a:xfrm>
          <a:prstGeom prst="line">
            <a:avLst/>
          </a:prstGeom>
          <a:ln cap="rnd" w="857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996999" y="4570334"/>
            <a:ext cx="2063708" cy="206370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59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VISIÓN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73637" y="4570334"/>
            <a:ext cx="2063708" cy="206370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59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MISIÓN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50274" y="4570334"/>
            <a:ext cx="2063708" cy="206370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59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ENTORNO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26912" y="4570334"/>
            <a:ext cx="2063708" cy="206370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59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ESTRATEGIAS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282116" y="4613201"/>
            <a:ext cx="2063708" cy="206370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59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PLANES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433244" y="2535042"/>
            <a:ext cx="3215018" cy="124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En el 2030 ser</a:t>
            </a: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 la herramienta de referencia para tests proyectivos de dibujo en el ámbito hispanohablante.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4007419" y="4093627"/>
            <a:ext cx="0" cy="476707"/>
          </a:xfrm>
          <a:prstGeom prst="line">
            <a:avLst/>
          </a:prstGeom>
          <a:ln cap="flat" w="47625">
            <a:solidFill>
              <a:srgbClr val="00559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1" id="21"/>
          <p:cNvSpPr/>
          <p:nvPr/>
        </p:nvSpPr>
        <p:spPr>
          <a:xfrm flipV="true">
            <a:off x="9203562" y="4093627"/>
            <a:ext cx="0" cy="476707"/>
          </a:xfrm>
          <a:prstGeom prst="line">
            <a:avLst/>
          </a:prstGeom>
          <a:ln cap="flat" w="47625">
            <a:solidFill>
              <a:srgbClr val="00559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 flipV="true">
            <a:off x="14313970" y="4093627"/>
            <a:ext cx="0" cy="476707"/>
          </a:xfrm>
          <a:prstGeom prst="line">
            <a:avLst/>
          </a:prstGeom>
          <a:ln cap="flat" w="47625">
            <a:solidFill>
              <a:srgbClr val="00559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 flipV="true">
            <a:off x="6584057" y="6634042"/>
            <a:ext cx="0" cy="476707"/>
          </a:xfrm>
          <a:prstGeom prst="line">
            <a:avLst/>
          </a:prstGeom>
          <a:ln cap="flat" w="47625">
            <a:solidFill>
              <a:srgbClr val="005599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11736421" y="6634042"/>
            <a:ext cx="0" cy="476707"/>
          </a:xfrm>
          <a:prstGeom prst="line">
            <a:avLst/>
          </a:prstGeom>
          <a:ln cap="flat" w="47625">
            <a:solidFill>
              <a:srgbClr val="005599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5060707" y="7418628"/>
            <a:ext cx="3215018" cy="93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</a:t>
            </a: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educir el tiempo en tareas mecánicas, sin reemplazar el criterio clínico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76257" y="2535116"/>
            <a:ext cx="4277642" cy="124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59" indent="-194329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Alta d</a:t>
            </a: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emanda.</a:t>
            </a:r>
          </a:p>
          <a:p>
            <a:pPr algn="l" marL="388659" indent="-194329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Pocos profesionales</a:t>
            </a:r>
          </a:p>
          <a:p>
            <a:pPr algn="l" marL="388659" indent="-194329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Baja digitalización</a:t>
            </a:r>
          </a:p>
          <a:p>
            <a:pPr algn="l" marL="388659" indent="-194329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Competencia que no analiza el dibujo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13982" y="7733028"/>
            <a:ext cx="4184146" cy="124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59" indent="-194329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 Profundid</a:t>
            </a: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ad antes que extensión.</a:t>
            </a:r>
          </a:p>
          <a:p>
            <a:pPr algn="l" marL="388659" indent="-194329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Capturar el proceso.</a:t>
            </a:r>
          </a:p>
          <a:p>
            <a:pPr algn="l" marL="388659" indent="-194329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Motor de reglas configurable.</a:t>
            </a:r>
          </a:p>
          <a:p>
            <a:pPr algn="l" marL="388659" indent="-194329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Cero diagnóstico.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90620" y="2535042"/>
            <a:ext cx="3215018" cy="124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59" indent="-194329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F1 requisi</a:t>
            </a: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to.</a:t>
            </a:r>
          </a:p>
          <a:p>
            <a:pPr algn="l" marL="388659" indent="-194329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F2 diseño y captura.</a:t>
            </a:r>
          </a:p>
          <a:p>
            <a:pPr algn="l" marL="388659" indent="-194329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F3 motor y reportes.</a:t>
            </a:r>
          </a:p>
          <a:p>
            <a:pPr algn="l" marL="388659" indent="-194329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F4 pruebas y medición.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670877">
            <a:off x="-2254194" y="5979711"/>
            <a:ext cx="6565789" cy="8115020"/>
          </a:xfrm>
          <a:custGeom>
            <a:avLst/>
            <a:gdLst/>
            <a:ahLst/>
            <a:cxnLst/>
            <a:rect r="r" b="b" t="t" l="l"/>
            <a:pathLst>
              <a:path h="8115020" w="6565789">
                <a:moveTo>
                  <a:pt x="0" y="0"/>
                </a:moveTo>
                <a:lnTo>
                  <a:pt x="6565788" y="0"/>
                </a:lnTo>
                <a:lnTo>
                  <a:pt x="6565788" y="8115020"/>
                </a:lnTo>
                <a:lnTo>
                  <a:pt x="0" y="8115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033287">
            <a:off x="-1542834" y="-2071638"/>
            <a:ext cx="4164419" cy="5147035"/>
          </a:xfrm>
          <a:custGeom>
            <a:avLst/>
            <a:gdLst/>
            <a:ahLst/>
            <a:cxnLst/>
            <a:rect r="r" b="b" t="t" l="l"/>
            <a:pathLst>
              <a:path h="5147035" w="4164419">
                <a:moveTo>
                  <a:pt x="0" y="0"/>
                </a:moveTo>
                <a:lnTo>
                  <a:pt x="4164419" y="0"/>
                </a:lnTo>
                <a:lnTo>
                  <a:pt x="4164419" y="5147035"/>
                </a:lnTo>
                <a:lnTo>
                  <a:pt x="0" y="5147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9136" y="1667868"/>
            <a:ext cx="14714208" cy="7684369"/>
          </a:xfrm>
          <a:custGeom>
            <a:avLst/>
            <a:gdLst/>
            <a:ahLst/>
            <a:cxnLst/>
            <a:rect r="r" b="b" t="t" l="l"/>
            <a:pathLst>
              <a:path h="7684369" w="14714208">
                <a:moveTo>
                  <a:pt x="0" y="0"/>
                </a:moveTo>
                <a:lnTo>
                  <a:pt x="14714208" y="0"/>
                </a:lnTo>
                <a:lnTo>
                  <a:pt x="14714208" y="7684370"/>
                </a:lnTo>
                <a:lnTo>
                  <a:pt x="0" y="7684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6" t="0" r="-41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36306" y="706437"/>
            <a:ext cx="6259868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Anexos: Lean Canvas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87757">
            <a:off x="14603881" y="-1983960"/>
            <a:ext cx="5945290" cy="7348112"/>
          </a:xfrm>
          <a:custGeom>
            <a:avLst/>
            <a:gdLst/>
            <a:ahLst/>
            <a:cxnLst/>
            <a:rect r="r" b="b" t="t" l="l"/>
            <a:pathLst>
              <a:path h="7348112" w="5945290">
                <a:moveTo>
                  <a:pt x="0" y="0"/>
                </a:moveTo>
                <a:lnTo>
                  <a:pt x="5945291" y="0"/>
                </a:lnTo>
                <a:lnTo>
                  <a:pt x="5945291" y="7348112"/>
                </a:lnTo>
                <a:lnTo>
                  <a:pt x="0" y="7348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935">
            <a:off x="15003839" y="7023795"/>
            <a:ext cx="4164419" cy="5147035"/>
          </a:xfrm>
          <a:custGeom>
            <a:avLst/>
            <a:gdLst/>
            <a:ahLst/>
            <a:cxnLst/>
            <a:rect r="r" b="b" t="t" l="l"/>
            <a:pathLst>
              <a:path h="5147035" w="4164419">
                <a:moveTo>
                  <a:pt x="0" y="0"/>
                </a:moveTo>
                <a:lnTo>
                  <a:pt x="4164419" y="0"/>
                </a:lnTo>
                <a:lnTo>
                  <a:pt x="4164419" y="5147035"/>
                </a:lnTo>
                <a:lnTo>
                  <a:pt x="0" y="5147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30742" y="1690096"/>
            <a:ext cx="11860561" cy="7973633"/>
          </a:xfrm>
          <a:custGeom>
            <a:avLst/>
            <a:gdLst/>
            <a:ahLst/>
            <a:cxnLst/>
            <a:rect r="r" b="b" t="t" l="l"/>
            <a:pathLst>
              <a:path h="7973633" w="11860561">
                <a:moveTo>
                  <a:pt x="0" y="0"/>
                </a:moveTo>
                <a:lnTo>
                  <a:pt x="11860562" y="0"/>
                </a:lnTo>
                <a:lnTo>
                  <a:pt x="11860562" y="7973633"/>
                </a:lnTo>
                <a:lnTo>
                  <a:pt x="0" y="7973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722" r="-22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23703" y="706456"/>
            <a:ext cx="4274641" cy="70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Anexos: FODA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973534">
            <a:off x="-3781740" y="4819000"/>
            <a:ext cx="6518395" cy="8056444"/>
          </a:xfrm>
          <a:custGeom>
            <a:avLst/>
            <a:gdLst/>
            <a:ahLst/>
            <a:cxnLst/>
            <a:rect r="r" b="b" t="t" l="l"/>
            <a:pathLst>
              <a:path h="8056444" w="6518395">
                <a:moveTo>
                  <a:pt x="0" y="0"/>
                </a:moveTo>
                <a:lnTo>
                  <a:pt x="6518396" y="0"/>
                </a:lnTo>
                <a:lnTo>
                  <a:pt x="6518396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10557">
            <a:off x="15364963" y="5024190"/>
            <a:ext cx="6518395" cy="8056444"/>
          </a:xfrm>
          <a:custGeom>
            <a:avLst/>
            <a:gdLst/>
            <a:ahLst/>
            <a:cxnLst/>
            <a:rect r="r" b="b" t="t" l="l"/>
            <a:pathLst>
              <a:path h="8056444" w="6518395">
                <a:moveTo>
                  <a:pt x="0" y="0"/>
                </a:moveTo>
                <a:lnTo>
                  <a:pt x="6518396" y="0"/>
                </a:lnTo>
                <a:lnTo>
                  <a:pt x="6518396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463387">
            <a:off x="1327667" y="7717123"/>
            <a:ext cx="4256974" cy="5261429"/>
          </a:xfrm>
          <a:custGeom>
            <a:avLst/>
            <a:gdLst/>
            <a:ahLst/>
            <a:cxnLst/>
            <a:rect r="r" b="b" t="t" l="l"/>
            <a:pathLst>
              <a:path h="5261429" w="4256974">
                <a:moveTo>
                  <a:pt x="0" y="0"/>
                </a:moveTo>
                <a:lnTo>
                  <a:pt x="4256974" y="0"/>
                </a:lnTo>
                <a:lnTo>
                  <a:pt x="4256974" y="5261429"/>
                </a:lnTo>
                <a:lnTo>
                  <a:pt x="0" y="5261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463387">
            <a:off x="12185421" y="7632894"/>
            <a:ext cx="4256974" cy="5261429"/>
          </a:xfrm>
          <a:custGeom>
            <a:avLst/>
            <a:gdLst/>
            <a:ahLst/>
            <a:cxnLst/>
            <a:rect r="r" b="b" t="t" l="l"/>
            <a:pathLst>
              <a:path h="5261429" w="4256974">
                <a:moveTo>
                  <a:pt x="0" y="0"/>
                </a:moveTo>
                <a:lnTo>
                  <a:pt x="4256974" y="0"/>
                </a:lnTo>
                <a:lnTo>
                  <a:pt x="4256974" y="5261429"/>
                </a:lnTo>
                <a:lnTo>
                  <a:pt x="0" y="5261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463387">
            <a:off x="7721173" y="8505058"/>
            <a:ext cx="2845655" cy="3517102"/>
          </a:xfrm>
          <a:custGeom>
            <a:avLst/>
            <a:gdLst/>
            <a:ahLst/>
            <a:cxnLst/>
            <a:rect r="r" b="b" t="t" l="l"/>
            <a:pathLst>
              <a:path h="3517102" w="2845655">
                <a:moveTo>
                  <a:pt x="0" y="0"/>
                </a:moveTo>
                <a:lnTo>
                  <a:pt x="2845654" y="0"/>
                </a:lnTo>
                <a:lnTo>
                  <a:pt x="2845654" y="3517101"/>
                </a:lnTo>
                <a:lnTo>
                  <a:pt x="0" y="3517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22921">
            <a:off x="3138068" y="4184789"/>
            <a:ext cx="2531518" cy="2531518"/>
          </a:xfrm>
          <a:custGeom>
            <a:avLst/>
            <a:gdLst/>
            <a:ahLst/>
            <a:cxnLst/>
            <a:rect r="r" b="b" t="t" l="l"/>
            <a:pathLst>
              <a:path h="2531518" w="2531518">
                <a:moveTo>
                  <a:pt x="0" y="0"/>
                </a:moveTo>
                <a:lnTo>
                  <a:pt x="2531517" y="0"/>
                </a:lnTo>
                <a:lnTo>
                  <a:pt x="2531517" y="2531517"/>
                </a:lnTo>
                <a:lnTo>
                  <a:pt x="0" y="2531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75543" y="3131430"/>
            <a:ext cx="2083757" cy="2874147"/>
          </a:xfrm>
          <a:custGeom>
            <a:avLst/>
            <a:gdLst/>
            <a:ahLst/>
            <a:cxnLst/>
            <a:rect r="r" b="b" t="t" l="l"/>
            <a:pathLst>
              <a:path h="2874147" w="2083757">
                <a:moveTo>
                  <a:pt x="0" y="0"/>
                </a:moveTo>
                <a:lnTo>
                  <a:pt x="2083757" y="0"/>
                </a:lnTo>
                <a:lnTo>
                  <a:pt x="2083757" y="2874147"/>
                </a:lnTo>
                <a:lnTo>
                  <a:pt x="0" y="2874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69064" y="1204562"/>
            <a:ext cx="5269526" cy="70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Objetivos General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9064" y="2330378"/>
            <a:ext cx="4701919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Desarrollar</a:t>
            </a:r>
            <a:r>
              <a:rPr lang="en-US" sz="1800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 u</a:t>
            </a:r>
            <a:r>
              <a:rPr lang="en-US" sz="1800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na aplicación web para reducir el tiempo de elaboración de informes de tests proyectivos de dibujo en la práctica psicológica profesional, durante el año 2026.</a:t>
            </a:r>
          </a:p>
          <a:p>
            <a:pPr algn="just">
              <a:lnSpc>
                <a:spcPts val="252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000455" y="2339903"/>
            <a:ext cx="6340769" cy="69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719" indent="-186360" lvl="1">
              <a:lnSpc>
                <a:spcPts val="2416"/>
              </a:lnSpc>
              <a:buFont typeface="Arial"/>
              <a:buChar char="•"/>
            </a:pPr>
            <a:r>
              <a:rPr lang="en-US" b="true" sz="172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Analizar</a:t>
            </a:r>
            <a:r>
              <a:rPr lang="en-US" sz="1726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 el proceso actual de evaluación y elaboración de informes de tests proyectivos de dibujo, identificando las actividades manuales que generan mayor consumo de tiempo.</a:t>
            </a:r>
          </a:p>
          <a:p>
            <a:pPr algn="l">
              <a:lnSpc>
                <a:spcPts val="2416"/>
              </a:lnSpc>
            </a:pPr>
          </a:p>
          <a:p>
            <a:pPr algn="l" marL="372719" indent="-186360" lvl="1">
              <a:lnSpc>
                <a:spcPts val="2416"/>
              </a:lnSpc>
              <a:buFont typeface="Arial"/>
              <a:buChar char="•"/>
            </a:pPr>
            <a:r>
              <a:rPr lang="en-US" b="true" sz="172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Especificar</a:t>
            </a:r>
            <a:r>
              <a:rPr lang="en-US" sz="1726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 los requerimientos funcionales y no funcionales de la aplicación web bajo el estándar de especificación de requisitos de software (IEEE, 1998).</a:t>
            </a:r>
          </a:p>
          <a:p>
            <a:pPr algn="l">
              <a:lnSpc>
                <a:spcPts val="2416"/>
              </a:lnSpc>
            </a:pPr>
          </a:p>
          <a:p>
            <a:pPr algn="l" marL="372719" indent="-186360" lvl="1">
              <a:lnSpc>
                <a:spcPts val="2416"/>
              </a:lnSpc>
              <a:buFont typeface="Arial"/>
              <a:buChar char="•"/>
            </a:pPr>
            <a:r>
              <a:rPr lang="en-US" b="true" sz="172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Establecer</a:t>
            </a:r>
            <a:r>
              <a:rPr lang="en-US" sz="1726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 la arquitectura y las interfaces del sistema, considerando el módulo del paciente para la captura digital del dibujo y el módulo del examinador para el registro de la sesión.</a:t>
            </a:r>
          </a:p>
          <a:p>
            <a:pPr algn="l">
              <a:lnSpc>
                <a:spcPts val="2416"/>
              </a:lnSpc>
            </a:pPr>
          </a:p>
          <a:p>
            <a:pPr algn="l" marL="372719" indent="-186360" lvl="1">
              <a:lnSpc>
                <a:spcPts val="2416"/>
              </a:lnSpc>
              <a:buFont typeface="Arial"/>
              <a:buChar char="•"/>
            </a:pPr>
            <a:r>
              <a:rPr lang="en-US" b="true" sz="172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Organizar</a:t>
            </a:r>
            <a:r>
              <a:rPr lang="en-US" sz="1726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 los módulos de captura de trazos, registro de observaciones, transcripción de la sesión y generación del borrador del informe según el formato del test aplicado.</a:t>
            </a:r>
          </a:p>
          <a:p>
            <a:pPr algn="l">
              <a:lnSpc>
                <a:spcPts val="2416"/>
              </a:lnSpc>
            </a:pPr>
          </a:p>
          <a:p>
            <a:pPr algn="l" marL="372719" indent="-186360" lvl="1">
              <a:lnSpc>
                <a:spcPts val="2416"/>
              </a:lnSpc>
              <a:buFont typeface="Arial"/>
              <a:buChar char="•"/>
            </a:pPr>
            <a:r>
              <a:rPr lang="en-US" sz="1726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Estimar la reducción del tiempo de elaboración de informes obtenida mediante el uso de la aplicación web, comparándola con el tiempo empleado en el procedimiento manual.</a:t>
            </a:r>
          </a:p>
          <a:p>
            <a:pPr algn="l">
              <a:lnSpc>
                <a:spcPts val="2416"/>
              </a:lnSpc>
            </a:pPr>
          </a:p>
          <a:p>
            <a:pPr algn="l">
              <a:lnSpc>
                <a:spcPts val="2416"/>
              </a:lnSpc>
            </a:pPr>
          </a:p>
          <a:p>
            <a:pPr algn="l">
              <a:lnSpc>
                <a:spcPts val="2416"/>
              </a:lnSpc>
            </a:pPr>
          </a:p>
          <a:p>
            <a:pPr algn="l" marL="0" indent="0" lvl="0">
              <a:lnSpc>
                <a:spcPts val="2416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000455" y="1204562"/>
            <a:ext cx="6313453" cy="70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Objetivos Especificos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215889">
            <a:off x="13368163" y="-3118766"/>
            <a:ext cx="6518395" cy="8056444"/>
          </a:xfrm>
          <a:custGeom>
            <a:avLst/>
            <a:gdLst/>
            <a:ahLst/>
            <a:cxnLst/>
            <a:rect r="r" b="b" t="t" l="l"/>
            <a:pathLst>
              <a:path h="8056444" w="6518395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66647" y="2825935"/>
            <a:ext cx="2714702" cy="271470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599">
                <a:alpha val="8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96632" y="2825935"/>
            <a:ext cx="2714702" cy="271470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599">
                <a:alpha val="8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366647" y="6069556"/>
            <a:ext cx="2714702" cy="271470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599">
                <a:alpha val="84706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396632" y="6069556"/>
            <a:ext cx="2714702" cy="271470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599">
                <a:alpha val="84706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120429" y="3459366"/>
            <a:ext cx="1207138" cy="1447842"/>
          </a:xfrm>
          <a:custGeom>
            <a:avLst/>
            <a:gdLst/>
            <a:ahLst/>
            <a:cxnLst/>
            <a:rect r="r" b="b" t="t" l="l"/>
            <a:pathLst>
              <a:path h="1447842" w="1207138">
                <a:moveTo>
                  <a:pt x="0" y="0"/>
                </a:moveTo>
                <a:lnTo>
                  <a:pt x="1207138" y="0"/>
                </a:lnTo>
                <a:lnTo>
                  <a:pt x="1207138" y="1447841"/>
                </a:lnTo>
                <a:lnTo>
                  <a:pt x="0" y="1447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167643" y="6697048"/>
            <a:ext cx="1459718" cy="1459718"/>
          </a:xfrm>
          <a:custGeom>
            <a:avLst/>
            <a:gdLst/>
            <a:ahLst/>
            <a:cxnLst/>
            <a:rect r="r" b="b" t="t" l="l"/>
            <a:pathLst>
              <a:path h="1459718" w="1459718">
                <a:moveTo>
                  <a:pt x="0" y="0"/>
                </a:moveTo>
                <a:lnTo>
                  <a:pt x="1459717" y="0"/>
                </a:lnTo>
                <a:lnTo>
                  <a:pt x="1459717" y="1459718"/>
                </a:lnTo>
                <a:lnTo>
                  <a:pt x="0" y="145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120429" y="6639641"/>
            <a:ext cx="1517125" cy="1517125"/>
          </a:xfrm>
          <a:custGeom>
            <a:avLst/>
            <a:gdLst/>
            <a:ahLst/>
            <a:cxnLst/>
            <a:rect r="r" b="b" t="t" l="l"/>
            <a:pathLst>
              <a:path h="1517125" w="1517125">
                <a:moveTo>
                  <a:pt x="0" y="0"/>
                </a:moveTo>
                <a:lnTo>
                  <a:pt x="1517125" y="0"/>
                </a:lnTo>
                <a:lnTo>
                  <a:pt x="1517125" y="1517125"/>
                </a:lnTo>
                <a:lnTo>
                  <a:pt x="0" y="1517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083147" y="3464853"/>
            <a:ext cx="1341674" cy="1436866"/>
          </a:xfrm>
          <a:custGeom>
            <a:avLst/>
            <a:gdLst/>
            <a:ahLst/>
            <a:cxnLst/>
            <a:rect r="r" b="b" t="t" l="l"/>
            <a:pathLst>
              <a:path h="1436866" w="1341674">
                <a:moveTo>
                  <a:pt x="0" y="0"/>
                </a:moveTo>
                <a:lnTo>
                  <a:pt x="1341673" y="0"/>
                </a:lnTo>
                <a:lnTo>
                  <a:pt x="1341673" y="1436866"/>
                </a:lnTo>
                <a:lnTo>
                  <a:pt x="0" y="14368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085850"/>
            <a:ext cx="7394012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Alcances y limitaciones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4256" y="2706868"/>
            <a:ext cx="95152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50"/>
              </a:lnSpc>
            </a:pPr>
            <a:r>
              <a:rPr lang="en-US" sz="5000" b="true">
                <a:solidFill>
                  <a:srgbClr val="005599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1.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37384" y="2706868"/>
            <a:ext cx="95152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50"/>
              </a:lnSpc>
            </a:pPr>
            <a:r>
              <a:rPr lang="en-US" sz="5000" b="true">
                <a:solidFill>
                  <a:srgbClr val="005599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2.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4256" y="6802327"/>
            <a:ext cx="95152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50"/>
              </a:lnSpc>
            </a:pPr>
            <a:r>
              <a:rPr lang="en-US" sz="5000" b="true">
                <a:solidFill>
                  <a:srgbClr val="005599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3.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37384" y="6802327"/>
            <a:ext cx="95152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50"/>
              </a:lnSpc>
            </a:pPr>
            <a:r>
              <a:rPr lang="en-US" sz="5000" b="true">
                <a:solidFill>
                  <a:srgbClr val="005599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4.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60642" y="2649718"/>
            <a:ext cx="3230175" cy="3565612"/>
            <a:chOff x="0" y="0"/>
            <a:chExt cx="4306900" cy="4754149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38100"/>
              <a:ext cx="430690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Alcance funcional y módulos operativos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005109"/>
              <a:ext cx="4306900" cy="3749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Implementación piloto de test proyectivo Persona bajo la lluvia.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Estructura en 5 módulos accesibles en web y tablets con soporte para lápiz digital.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Integración de flujo de datos entre dispositivos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807625" y="2649718"/>
            <a:ext cx="3230175" cy="3251287"/>
            <a:chOff x="0" y="0"/>
            <a:chExt cx="4306900" cy="4335049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38100"/>
              <a:ext cx="430690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Modelado y procesamiento de indicadores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1005109"/>
              <a:ext cx="4306900" cy="3329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Incorporación de 149 indicadores modelados como núcleo del sistema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Clasificación interna divididas en cálculos, validaciones e indicadores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Generación automatizado de informe editable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60642" y="6729258"/>
            <a:ext cx="3230175" cy="3251287"/>
            <a:chOff x="0" y="0"/>
            <a:chExt cx="4306900" cy="4335049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38100"/>
              <a:ext cx="430690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Exclusiones y limitaciones clínicas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1005109"/>
              <a:ext cx="4306900" cy="3329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El sistema no emite juicios diagnósticos definitivos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La versión inicial se limita estrictamente a un solo test proyectivo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Carece de datos normativas respecto a la población peruana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807625" y="6729258"/>
            <a:ext cx="3230175" cy="2622637"/>
            <a:chOff x="0" y="0"/>
            <a:chExt cx="4306900" cy="3496849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38100"/>
              <a:ext cx="430690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Restricciones tecnológicas y operativas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1005109"/>
              <a:ext cx="4306900" cy="2491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Dependencia obligatoria de conexión a internet permanente para la sincronización de datos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Requisito estricto de hardware compatible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973534">
            <a:off x="-3781740" y="4819000"/>
            <a:ext cx="6518395" cy="8056444"/>
          </a:xfrm>
          <a:custGeom>
            <a:avLst/>
            <a:gdLst/>
            <a:ahLst/>
            <a:cxnLst/>
            <a:rect r="r" b="b" t="t" l="l"/>
            <a:pathLst>
              <a:path h="8056444" w="6518395">
                <a:moveTo>
                  <a:pt x="0" y="0"/>
                </a:moveTo>
                <a:lnTo>
                  <a:pt x="6518396" y="0"/>
                </a:lnTo>
                <a:lnTo>
                  <a:pt x="6518396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10557">
            <a:off x="15364963" y="5024190"/>
            <a:ext cx="6518395" cy="8056444"/>
          </a:xfrm>
          <a:custGeom>
            <a:avLst/>
            <a:gdLst/>
            <a:ahLst/>
            <a:cxnLst/>
            <a:rect r="r" b="b" t="t" l="l"/>
            <a:pathLst>
              <a:path h="8056444" w="6518395">
                <a:moveTo>
                  <a:pt x="0" y="0"/>
                </a:moveTo>
                <a:lnTo>
                  <a:pt x="6518396" y="0"/>
                </a:lnTo>
                <a:lnTo>
                  <a:pt x="6518396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463387">
            <a:off x="1327667" y="7717123"/>
            <a:ext cx="4256974" cy="5261429"/>
          </a:xfrm>
          <a:custGeom>
            <a:avLst/>
            <a:gdLst/>
            <a:ahLst/>
            <a:cxnLst/>
            <a:rect r="r" b="b" t="t" l="l"/>
            <a:pathLst>
              <a:path h="5261429" w="4256974">
                <a:moveTo>
                  <a:pt x="0" y="0"/>
                </a:moveTo>
                <a:lnTo>
                  <a:pt x="4256974" y="0"/>
                </a:lnTo>
                <a:lnTo>
                  <a:pt x="4256974" y="5261429"/>
                </a:lnTo>
                <a:lnTo>
                  <a:pt x="0" y="5261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463387">
            <a:off x="12185421" y="7632894"/>
            <a:ext cx="4256974" cy="5261429"/>
          </a:xfrm>
          <a:custGeom>
            <a:avLst/>
            <a:gdLst/>
            <a:ahLst/>
            <a:cxnLst/>
            <a:rect r="r" b="b" t="t" l="l"/>
            <a:pathLst>
              <a:path h="5261429" w="4256974">
                <a:moveTo>
                  <a:pt x="0" y="0"/>
                </a:moveTo>
                <a:lnTo>
                  <a:pt x="4256974" y="0"/>
                </a:lnTo>
                <a:lnTo>
                  <a:pt x="4256974" y="5261429"/>
                </a:lnTo>
                <a:lnTo>
                  <a:pt x="0" y="5261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463387">
            <a:off x="7721173" y="8505058"/>
            <a:ext cx="2845655" cy="3517102"/>
          </a:xfrm>
          <a:custGeom>
            <a:avLst/>
            <a:gdLst/>
            <a:ahLst/>
            <a:cxnLst/>
            <a:rect r="r" b="b" t="t" l="l"/>
            <a:pathLst>
              <a:path h="3517102" w="2845655">
                <a:moveTo>
                  <a:pt x="0" y="0"/>
                </a:moveTo>
                <a:lnTo>
                  <a:pt x="2845654" y="0"/>
                </a:lnTo>
                <a:lnTo>
                  <a:pt x="2845654" y="3517101"/>
                </a:lnTo>
                <a:lnTo>
                  <a:pt x="0" y="3517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85850"/>
            <a:ext cx="811530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Justifación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200425" y="2658675"/>
            <a:ext cx="2571750" cy="4907264"/>
            <a:chOff x="0" y="0"/>
            <a:chExt cx="3429000" cy="654301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331669"/>
              <a:ext cx="342900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Justificación tecnológica y ética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74878"/>
              <a:ext cx="3429000" cy="4168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Garantiza registros clínicos trazables y auditables, operando estrictamente como una herramienta de apoyo auxiliar para el especialista y descartando cualquier automatización de juicios diagnósticos.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7150"/>
              <a:ext cx="1268706" cy="954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50"/>
                </a:lnSpc>
              </a:pPr>
              <a:r>
                <a:rPr lang="en-US" sz="5000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4.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515825" y="2658675"/>
            <a:ext cx="2571750" cy="4278614"/>
            <a:chOff x="0" y="0"/>
            <a:chExt cx="3429000" cy="570481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31669"/>
              <a:ext cx="3429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Justificación práctica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955778"/>
              <a:ext cx="3429000" cy="3749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La herramienta optimiza el flujo operativo al liberar tiempo de redacción manual, permitiendo que el psicólogo se concentre directamente en el análisis clínico y la intervención con el paciente.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7150"/>
              <a:ext cx="1268706" cy="954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50"/>
                </a:lnSpc>
              </a:pPr>
              <a:r>
                <a:rPr lang="en-US" sz="5000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1.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77358" y="2658675"/>
            <a:ext cx="2571750" cy="3964289"/>
            <a:chOff x="0" y="0"/>
            <a:chExt cx="3429000" cy="528571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955778"/>
              <a:ext cx="3429000" cy="3329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Incrementa la capacidad de atención y la eficiencia operativa de los consultorios, posibilitando un mayor volumen de atenciones sin necesidad de ampliar la jornada laboral.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31669"/>
              <a:ext cx="3429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Justificación económica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57150"/>
              <a:ext cx="1268706" cy="954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50"/>
                </a:lnSpc>
              </a:pPr>
              <a:r>
                <a:rPr lang="en-US" sz="5000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2.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38892" y="2658675"/>
            <a:ext cx="2571750" cy="4592939"/>
            <a:chOff x="0" y="0"/>
            <a:chExt cx="3429000" cy="6123918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331669"/>
              <a:ext cx="3429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Justificación social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955778"/>
              <a:ext cx="3429000" cy="4168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Impacta directamente en la atención de una problemática nacional que superó los 1.8 millones de casos en 2024, ofreciendo resultados más oportunos especialmente enfocados en la población escolar.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57150"/>
              <a:ext cx="1268706" cy="954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50"/>
                </a:lnSpc>
              </a:pPr>
              <a:r>
                <a:rPr lang="en-US" sz="5000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3.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137163" y="2616700"/>
          <a:ext cx="9230633" cy="4838700"/>
        </p:xfrm>
        <a:graphic>
          <a:graphicData uri="http://schemas.openxmlformats.org/drawingml/2006/table">
            <a:tbl>
              <a:tblPr/>
              <a:tblGrid>
                <a:gridCol w="2307658"/>
                <a:gridCol w="2307658"/>
                <a:gridCol w="2307658"/>
                <a:gridCol w="2307658"/>
              </a:tblGrid>
              <a:tr h="1209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Analiza el dibujo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Persona bajo la lluvia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Captura el proceso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209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Software comercial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9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Investigación académica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9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Nuestra propuesta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2455737" y="4048741"/>
            <a:ext cx="802018" cy="802018"/>
          </a:xfrm>
          <a:custGeom>
            <a:avLst/>
            <a:gdLst/>
            <a:ahLst/>
            <a:cxnLst/>
            <a:rect r="r" b="b" t="t" l="l"/>
            <a:pathLst>
              <a:path h="802018" w="802018">
                <a:moveTo>
                  <a:pt x="0" y="0"/>
                </a:moveTo>
                <a:lnTo>
                  <a:pt x="802017" y="0"/>
                </a:lnTo>
                <a:lnTo>
                  <a:pt x="802017" y="802018"/>
                </a:lnTo>
                <a:lnTo>
                  <a:pt x="0" y="80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38633" y="4048741"/>
            <a:ext cx="802018" cy="802018"/>
          </a:xfrm>
          <a:custGeom>
            <a:avLst/>
            <a:gdLst/>
            <a:ahLst/>
            <a:cxnLst/>
            <a:rect r="r" b="b" t="t" l="l"/>
            <a:pathLst>
              <a:path h="802018" w="802018">
                <a:moveTo>
                  <a:pt x="0" y="0"/>
                </a:moveTo>
                <a:lnTo>
                  <a:pt x="802017" y="0"/>
                </a:lnTo>
                <a:lnTo>
                  <a:pt x="802017" y="802018"/>
                </a:lnTo>
                <a:lnTo>
                  <a:pt x="0" y="802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49543" y="2870054"/>
            <a:ext cx="4334124" cy="1316137"/>
            <a:chOff x="0" y="0"/>
            <a:chExt cx="5778831" cy="175484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47625"/>
              <a:ext cx="5765013" cy="551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6"/>
                </a:lnSpc>
              </a:pPr>
              <a:r>
                <a:rPr lang="en-US" sz="2504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Software comercial (español)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3819" y="743490"/>
              <a:ext cx="5765013" cy="1011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55"/>
                </a:lnSpc>
              </a:pPr>
              <a:r>
                <a:rPr lang="en-US" sz="2254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El profesional llena un formulario. No analiza el dibujo.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085850"/>
            <a:ext cx="9109933" cy="70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Estado del arte: qué existe hoy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49543" y="5012391"/>
            <a:ext cx="4334124" cy="1757494"/>
            <a:chOff x="0" y="0"/>
            <a:chExt cx="5778831" cy="234332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5765013" cy="113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6"/>
                </a:lnSpc>
              </a:pPr>
              <a:r>
                <a:rPr lang="en-US" sz="2504" b="true">
                  <a:solidFill>
                    <a:srgbClr val="005599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Investigación académica, 7 antecedentes revisados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3819" y="1331967"/>
              <a:ext cx="5765013" cy="1011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55"/>
                </a:lnSpc>
              </a:pPr>
              <a:r>
                <a:rPr lang="en-US" sz="2254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Casi todo sobre Casa-Árbol-Persona. Enfoque diagnóstico.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772841" y="4048741"/>
            <a:ext cx="802018" cy="802018"/>
          </a:xfrm>
          <a:custGeom>
            <a:avLst/>
            <a:gdLst/>
            <a:ahLst/>
            <a:cxnLst/>
            <a:rect r="r" b="b" t="t" l="l"/>
            <a:pathLst>
              <a:path h="802018" w="802018">
                <a:moveTo>
                  <a:pt x="0" y="0"/>
                </a:moveTo>
                <a:lnTo>
                  <a:pt x="802018" y="0"/>
                </a:lnTo>
                <a:lnTo>
                  <a:pt x="802018" y="802018"/>
                </a:lnTo>
                <a:lnTo>
                  <a:pt x="0" y="802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38633" y="5244078"/>
            <a:ext cx="802018" cy="802018"/>
          </a:xfrm>
          <a:custGeom>
            <a:avLst/>
            <a:gdLst/>
            <a:ahLst/>
            <a:cxnLst/>
            <a:rect r="r" b="b" t="t" l="l"/>
            <a:pathLst>
              <a:path h="802018" w="802018">
                <a:moveTo>
                  <a:pt x="0" y="0"/>
                </a:moveTo>
                <a:lnTo>
                  <a:pt x="802017" y="0"/>
                </a:lnTo>
                <a:lnTo>
                  <a:pt x="802017" y="802017"/>
                </a:lnTo>
                <a:lnTo>
                  <a:pt x="0" y="80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55737" y="5244078"/>
            <a:ext cx="802018" cy="802018"/>
          </a:xfrm>
          <a:custGeom>
            <a:avLst/>
            <a:gdLst/>
            <a:ahLst/>
            <a:cxnLst/>
            <a:rect r="r" b="b" t="t" l="l"/>
            <a:pathLst>
              <a:path h="802018" w="802018">
                <a:moveTo>
                  <a:pt x="0" y="0"/>
                </a:moveTo>
                <a:lnTo>
                  <a:pt x="802017" y="0"/>
                </a:lnTo>
                <a:lnTo>
                  <a:pt x="802017" y="802017"/>
                </a:lnTo>
                <a:lnTo>
                  <a:pt x="0" y="802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772841" y="5244078"/>
            <a:ext cx="802018" cy="802018"/>
          </a:xfrm>
          <a:custGeom>
            <a:avLst/>
            <a:gdLst/>
            <a:ahLst/>
            <a:cxnLst/>
            <a:rect r="r" b="b" t="t" l="l"/>
            <a:pathLst>
              <a:path h="802018" w="802018">
                <a:moveTo>
                  <a:pt x="0" y="0"/>
                </a:moveTo>
                <a:lnTo>
                  <a:pt x="802018" y="0"/>
                </a:lnTo>
                <a:lnTo>
                  <a:pt x="802018" y="802017"/>
                </a:lnTo>
                <a:lnTo>
                  <a:pt x="0" y="802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138633" y="6436620"/>
            <a:ext cx="802018" cy="802018"/>
          </a:xfrm>
          <a:custGeom>
            <a:avLst/>
            <a:gdLst/>
            <a:ahLst/>
            <a:cxnLst/>
            <a:rect r="r" b="b" t="t" l="l"/>
            <a:pathLst>
              <a:path h="802018" w="802018">
                <a:moveTo>
                  <a:pt x="0" y="0"/>
                </a:moveTo>
                <a:lnTo>
                  <a:pt x="802017" y="0"/>
                </a:lnTo>
                <a:lnTo>
                  <a:pt x="802017" y="802018"/>
                </a:lnTo>
                <a:lnTo>
                  <a:pt x="0" y="80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455737" y="6436620"/>
            <a:ext cx="802018" cy="802018"/>
          </a:xfrm>
          <a:custGeom>
            <a:avLst/>
            <a:gdLst/>
            <a:ahLst/>
            <a:cxnLst/>
            <a:rect r="r" b="b" t="t" l="l"/>
            <a:pathLst>
              <a:path h="802018" w="802018">
                <a:moveTo>
                  <a:pt x="0" y="0"/>
                </a:moveTo>
                <a:lnTo>
                  <a:pt x="802017" y="0"/>
                </a:lnTo>
                <a:lnTo>
                  <a:pt x="802017" y="802018"/>
                </a:lnTo>
                <a:lnTo>
                  <a:pt x="0" y="80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772841" y="6436620"/>
            <a:ext cx="802018" cy="802018"/>
          </a:xfrm>
          <a:custGeom>
            <a:avLst/>
            <a:gdLst/>
            <a:ahLst/>
            <a:cxnLst/>
            <a:rect r="r" b="b" t="t" l="l"/>
            <a:pathLst>
              <a:path h="802018" w="802018">
                <a:moveTo>
                  <a:pt x="0" y="0"/>
                </a:moveTo>
                <a:lnTo>
                  <a:pt x="802018" y="0"/>
                </a:lnTo>
                <a:lnTo>
                  <a:pt x="802018" y="802018"/>
                </a:lnTo>
                <a:lnTo>
                  <a:pt x="0" y="80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14009" y="3555199"/>
            <a:ext cx="6281219" cy="4177011"/>
          </a:xfrm>
          <a:custGeom>
            <a:avLst/>
            <a:gdLst/>
            <a:ahLst/>
            <a:cxnLst/>
            <a:rect r="r" b="b" t="t" l="l"/>
            <a:pathLst>
              <a:path h="4177011" w="6281219">
                <a:moveTo>
                  <a:pt x="0" y="0"/>
                </a:moveTo>
                <a:lnTo>
                  <a:pt x="6281220" y="0"/>
                </a:lnTo>
                <a:lnTo>
                  <a:pt x="6281220" y="4177011"/>
                </a:lnTo>
                <a:lnTo>
                  <a:pt x="0" y="4177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887757">
            <a:off x="14603881" y="-1983960"/>
            <a:ext cx="5945290" cy="7348112"/>
          </a:xfrm>
          <a:custGeom>
            <a:avLst/>
            <a:gdLst/>
            <a:ahLst/>
            <a:cxnLst/>
            <a:rect r="r" b="b" t="t" l="l"/>
            <a:pathLst>
              <a:path h="7348112" w="5945290">
                <a:moveTo>
                  <a:pt x="0" y="0"/>
                </a:moveTo>
                <a:lnTo>
                  <a:pt x="5945291" y="0"/>
                </a:lnTo>
                <a:lnTo>
                  <a:pt x="5945291" y="7348112"/>
                </a:lnTo>
                <a:lnTo>
                  <a:pt x="0" y="7348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935">
            <a:off x="14777126" y="6684783"/>
            <a:ext cx="4164419" cy="5147035"/>
          </a:xfrm>
          <a:custGeom>
            <a:avLst/>
            <a:gdLst/>
            <a:ahLst/>
            <a:cxnLst/>
            <a:rect r="r" b="b" t="t" l="l"/>
            <a:pathLst>
              <a:path h="5147035" w="4164419">
                <a:moveTo>
                  <a:pt x="0" y="0"/>
                </a:moveTo>
                <a:lnTo>
                  <a:pt x="4164419" y="0"/>
                </a:lnTo>
                <a:lnTo>
                  <a:pt x="4164419" y="5147034"/>
                </a:lnTo>
                <a:lnTo>
                  <a:pt x="0" y="51470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2648" y="1690096"/>
            <a:ext cx="8292934" cy="7907216"/>
          </a:xfrm>
          <a:custGeom>
            <a:avLst/>
            <a:gdLst/>
            <a:ahLst/>
            <a:cxnLst/>
            <a:rect r="r" b="b" t="t" l="l"/>
            <a:pathLst>
              <a:path h="7907216" w="8292934">
                <a:moveTo>
                  <a:pt x="0" y="0"/>
                </a:moveTo>
                <a:lnTo>
                  <a:pt x="8292934" y="0"/>
                </a:lnTo>
                <a:lnTo>
                  <a:pt x="8292934" y="7907216"/>
                </a:lnTo>
                <a:lnTo>
                  <a:pt x="0" y="7907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19115" y="706437"/>
            <a:ext cx="706266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Anexos: Project Charter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87757">
            <a:off x="14603881" y="-1983960"/>
            <a:ext cx="5945290" cy="7348112"/>
          </a:xfrm>
          <a:custGeom>
            <a:avLst/>
            <a:gdLst/>
            <a:ahLst/>
            <a:cxnLst/>
            <a:rect r="r" b="b" t="t" l="l"/>
            <a:pathLst>
              <a:path h="7348112" w="5945290">
                <a:moveTo>
                  <a:pt x="0" y="0"/>
                </a:moveTo>
                <a:lnTo>
                  <a:pt x="5945291" y="0"/>
                </a:lnTo>
                <a:lnTo>
                  <a:pt x="5945291" y="7348112"/>
                </a:lnTo>
                <a:lnTo>
                  <a:pt x="0" y="7348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935">
            <a:off x="15003839" y="7023795"/>
            <a:ext cx="4164419" cy="5147035"/>
          </a:xfrm>
          <a:custGeom>
            <a:avLst/>
            <a:gdLst/>
            <a:ahLst/>
            <a:cxnLst/>
            <a:rect r="r" b="b" t="t" l="l"/>
            <a:pathLst>
              <a:path h="5147035" w="4164419">
                <a:moveTo>
                  <a:pt x="0" y="0"/>
                </a:moveTo>
                <a:lnTo>
                  <a:pt x="4164419" y="0"/>
                </a:lnTo>
                <a:lnTo>
                  <a:pt x="4164419" y="5147035"/>
                </a:lnTo>
                <a:lnTo>
                  <a:pt x="0" y="5147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2854" y="2114603"/>
            <a:ext cx="16422292" cy="7143697"/>
          </a:xfrm>
          <a:custGeom>
            <a:avLst/>
            <a:gdLst/>
            <a:ahLst/>
            <a:cxnLst/>
            <a:rect r="r" b="b" t="t" l="l"/>
            <a:pathLst>
              <a:path h="7143697" w="16422292">
                <a:moveTo>
                  <a:pt x="0" y="0"/>
                </a:moveTo>
                <a:lnTo>
                  <a:pt x="16422292" y="0"/>
                </a:lnTo>
                <a:lnTo>
                  <a:pt x="16422292" y="7143697"/>
                </a:lnTo>
                <a:lnTo>
                  <a:pt x="0" y="7143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62728" y="706437"/>
            <a:ext cx="10562544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Anexos: Cronograma de actividades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765396">
            <a:off x="-1930965" y="4980210"/>
            <a:ext cx="6518395" cy="8056444"/>
          </a:xfrm>
          <a:custGeom>
            <a:avLst/>
            <a:gdLst/>
            <a:ahLst/>
            <a:cxnLst/>
            <a:rect r="r" b="b" t="t" l="l"/>
            <a:pathLst>
              <a:path h="8056444" w="6518395">
                <a:moveTo>
                  <a:pt x="0" y="0"/>
                </a:moveTo>
                <a:lnTo>
                  <a:pt x="6518396" y="0"/>
                </a:lnTo>
                <a:lnTo>
                  <a:pt x="6518396" y="8056443"/>
                </a:lnTo>
                <a:lnTo>
                  <a:pt x="0" y="8056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48779" y="3328617"/>
            <a:ext cx="13267539" cy="259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8"/>
              </a:lnSpc>
            </a:pPr>
            <a:r>
              <a:rPr lang="en-US" sz="6200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“Capturamos el proceso del dibujo, no solo el resultado para devolverle tiempo al psicólogo.”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50605" y="6351340"/>
            <a:ext cx="4786791" cy="70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1"/>
              </a:lnSpc>
            </a:pPr>
            <a:r>
              <a:rPr lang="en-US" sz="4172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Muchas gracias.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3960535">
            <a:off x="13698910" y="-2857112"/>
            <a:ext cx="6287950" cy="7771624"/>
          </a:xfrm>
          <a:custGeom>
            <a:avLst/>
            <a:gdLst/>
            <a:ahLst/>
            <a:cxnLst/>
            <a:rect r="r" b="b" t="t" l="l"/>
            <a:pathLst>
              <a:path h="7771624" w="6287950">
                <a:moveTo>
                  <a:pt x="0" y="0"/>
                </a:moveTo>
                <a:lnTo>
                  <a:pt x="6287950" y="0"/>
                </a:lnTo>
                <a:lnTo>
                  <a:pt x="6287950" y="7771624"/>
                </a:lnTo>
                <a:lnTo>
                  <a:pt x="0" y="7771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801095">
            <a:off x="16035978" y="2448160"/>
            <a:ext cx="3964543" cy="4899997"/>
          </a:xfrm>
          <a:custGeom>
            <a:avLst/>
            <a:gdLst/>
            <a:ahLst/>
            <a:cxnLst/>
            <a:rect r="r" b="b" t="t" l="l"/>
            <a:pathLst>
              <a:path h="4899997" w="3964543">
                <a:moveTo>
                  <a:pt x="0" y="0"/>
                </a:moveTo>
                <a:lnTo>
                  <a:pt x="3964543" y="0"/>
                </a:lnTo>
                <a:lnTo>
                  <a:pt x="3964543" y="4899997"/>
                </a:lnTo>
                <a:lnTo>
                  <a:pt x="0" y="4899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17312" y="9201150"/>
            <a:ext cx="2500938" cy="50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0"/>
              </a:lnSpc>
            </a:pPr>
            <a:r>
              <a:rPr lang="en-US" sz="2993">
                <a:solidFill>
                  <a:srgbClr val="005599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Sección 38195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DAHUO8r8884</dc:identifier>
  <dcterms:modified xsi:type="dcterms:W3CDTF">2011-08-01T06:04:30Z</dcterms:modified>
  <cp:revision>1</cp:revision>
  <dc:title>PPT-Integrador-1_Avance1</dc:title>
</cp:coreProperties>
</file>